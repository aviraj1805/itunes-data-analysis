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Spent ($)</c:v>
                </c:pt>
              </c:strCache>
            </c:strRef>
          </c:tx>
          <c:spPr>
            <a:solidFill>
              <a:srgbClr val="FC3C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3C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34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2B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22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C192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8101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4091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0000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C000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8000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František W.</c:v>
                  </c:pt>
                  <c:pt idx="1">
                    <c:v>Helena Holý</c:v>
                  </c:pt>
                  <c:pt idx="2">
                    <c:v>Hugh O'Reilly</c:v>
                  </c:pt>
                  <c:pt idx="3">
                    <c:v>Manoj Pareek</c:v>
                  </c:pt>
                  <c:pt idx="4">
                    <c:v>Luís Gonçalves</c:v>
                  </c:pt>
                  <c:pt idx="5">
                    <c:v>Fernanda Ramos</c:v>
                  </c:pt>
                  <c:pt idx="6">
                    <c:v>João Fernandes</c:v>
                  </c:pt>
                  <c:pt idx="7">
                    <c:v>Wyatt Girard</c:v>
                  </c:pt>
                  <c:pt idx="8">
                    <c:v>François Tremblay</c:v>
                  </c:pt>
                  <c:pt idx="9">
                    <c:v>Jack Smith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144.54</c:v>
                </c:pt>
                <c:pt idx="1">
                  <c:v>128.7</c:v>
                </c:pt>
                <c:pt idx="2">
                  <c:v>114.84</c:v>
                </c:pt>
                <c:pt idx="3">
                  <c:v>111.87</c:v>
                </c:pt>
                <c:pt idx="4">
                  <c:v>108.9</c:v>
                </c:pt>
                <c:pt idx="5">
                  <c:v>106.92</c:v>
                </c:pt>
                <c:pt idx="6">
                  <c:v>102.96</c:v>
                </c:pt>
                <c:pt idx="7">
                  <c:v>99.99</c:v>
                </c:pt>
                <c:pt idx="8">
                  <c:v>99.99</c:v>
                </c:pt>
                <c:pt idx="9">
                  <c:v>98.01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FC3C44"/>
            </a:solidFill>
            <a:ln w="25400" cap="flat">
              <a:solidFill>
                <a:srgbClr val="FC3C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C3C44"/>
              </a:solidFill>
              <a:ln w="9525" cap="flat">
                <a:solidFill>
                  <a:srgbClr val="FC3C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Jan'17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Jan'18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Jan'19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Jan'20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Dec'20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126.72</c:v>
                </c:pt>
                <c:pt idx="1">
                  <c:v>141.57</c:v>
                </c:pt>
                <c:pt idx="2">
                  <c:v>103.95</c:v>
                </c:pt>
                <c:pt idx="3">
                  <c:v>142.56</c:v>
                </c:pt>
                <c:pt idx="4">
                  <c:v>104.94</c:v>
                </c:pt>
                <c:pt idx="5">
                  <c:v>75.24</c:v>
                </c:pt>
                <c:pt idx="6">
                  <c:v>108.9</c:v>
                </c:pt>
                <c:pt idx="7">
                  <c:v>88.11</c:v>
                </c:pt>
                <c:pt idx="8">
                  <c:v>107.91</c:v>
                </c:pt>
                <c:pt idx="9">
                  <c:v>79.2</c:v>
                </c:pt>
                <c:pt idx="10">
                  <c:v>94.05</c:v>
                </c:pt>
                <c:pt idx="11">
                  <c:v>28.71</c:v>
                </c:pt>
                <c:pt idx="12">
                  <c:v>183.15</c:v>
                </c:pt>
                <c:pt idx="13">
                  <c:v>116.82</c:v>
                </c:pt>
                <c:pt idx="14">
                  <c:v>148.5</c:v>
                </c:pt>
                <c:pt idx="15">
                  <c:v>63.36</c:v>
                </c:pt>
                <c:pt idx="16">
                  <c:v>76.23</c:v>
                </c:pt>
                <c:pt idx="17">
                  <c:v>92.07</c:v>
                </c:pt>
                <c:pt idx="18">
                  <c:v>85.14</c:v>
                </c:pt>
                <c:pt idx="19">
                  <c:v>106.92</c:v>
                </c:pt>
                <c:pt idx="20">
                  <c:v>56.43</c:v>
                </c:pt>
                <c:pt idx="21">
                  <c:v>78.21</c:v>
                </c:pt>
                <c:pt idx="22">
                  <c:v>42.57</c:v>
                </c:pt>
                <c:pt idx="23">
                  <c:v>98.01</c:v>
                </c:pt>
                <c:pt idx="24">
                  <c:v>85.14</c:v>
                </c:pt>
                <c:pt idx="25">
                  <c:v>59.4</c:v>
                </c:pt>
                <c:pt idx="26">
                  <c:v>125.73</c:v>
                </c:pt>
                <c:pt idx="27">
                  <c:v>116.82</c:v>
                </c:pt>
                <c:pt idx="28">
                  <c:v>104.94</c:v>
                </c:pt>
                <c:pt idx="29">
                  <c:v>92.07</c:v>
                </c:pt>
                <c:pt idx="30">
                  <c:v>124.74</c:v>
                </c:pt>
                <c:pt idx="31">
                  <c:v>159.39</c:v>
                </c:pt>
                <c:pt idx="32">
                  <c:v>126.72</c:v>
                </c:pt>
                <c:pt idx="33">
                  <c:v>43.56</c:v>
                </c:pt>
                <c:pt idx="34">
                  <c:v>71.28</c:v>
                </c:pt>
                <c:pt idx="35">
                  <c:v>111.87</c:v>
                </c:pt>
                <c:pt idx="36">
                  <c:v>43.56</c:v>
                </c:pt>
                <c:pt idx="37">
                  <c:v>97.02</c:v>
                </c:pt>
                <c:pt idx="38">
                  <c:v>78.21</c:v>
                </c:pt>
                <c:pt idx="39">
                  <c:v>119.79</c:v>
                </c:pt>
                <c:pt idx="40">
                  <c:v>82.17</c:v>
                </c:pt>
                <c:pt idx="41">
                  <c:v>120.78</c:v>
                </c:pt>
                <c:pt idx="42">
                  <c:v>76.23</c:v>
                </c:pt>
                <c:pt idx="43">
                  <c:v>72.27</c:v>
                </c:pt>
                <c:pt idx="44">
                  <c:v>95.04</c:v>
                </c:pt>
                <c:pt idx="45">
                  <c:v>144.54</c:v>
                </c:pt>
                <c:pt idx="46">
                  <c:v>83.16</c:v>
                </c:pt>
                <c:pt idx="47">
                  <c:v>125.73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FC3C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3C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8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0D1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1201.86</c:v>
                </c:pt>
                <c:pt idx="1">
                  <c:v>1147.41</c:v>
                </c:pt>
                <c:pt idx="2">
                  <c:v>1221.66</c:v>
                </c:pt>
                <c:pt idx="3">
                  <c:v>1138.5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C3C44"/>
              </a:solidFill>
              <a:effectLst/>
            </c:spPr>
          </c:dPt>
          <c:dPt>
            <c:idx val="1"/>
            <c:bubble3D val="0"/>
            <c:spPr>
              <a:solidFill>
                <a:srgbClr val="0A84FF"/>
              </a:solidFill>
              <a:effectLst/>
            </c:spPr>
          </c:dPt>
          <c:dPt>
            <c:idx val="2"/>
            <c:bubble3D val="0"/>
            <c:spPr>
              <a:solidFill>
                <a:srgbClr val="30D158"/>
              </a:solidFill>
              <a:effectLst/>
            </c:spPr>
          </c:dPt>
          <c:dPt>
            <c:idx val="3"/>
            <c:bubble3D val="0"/>
            <c:spPr>
              <a:solidFill>
                <a:srgbClr val="FFD60A"/>
              </a:solidFill>
              <a:effectLst/>
            </c:spPr>
          </c:dPt>
          <c:dPt>
            <c:idx val="4"/>
            <c:bubble3D val="0"/>
            <c:spPr>
              <a:solidFill>
                <a:srgbClr val="FF6B35"/>
              </a:solidFill>
              <a:effectLst/>
            </c:spPr>
          </c:dPt>
          <c:dPt>
            <c:idx val="5"/>
            <c:bubble3D val="0"/>
            <c:spPr>
              <a:solidFill>
                <a:srgbClr val="BF5FFF"/>
              </a:solidFill>
              <a:effectLst/>
            </c:spPr>
          </c:dPt>
          <c:dPt>
            <c:idx val="6"/>
            <c:bubble3D val="0"/>
            <c:spPr>
              <a:solidFill>
                <a:srgbClr val="FF9F0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Rock</c:v>
                </c:pt>
                <c:pt idx="1">
                  <c:v>Metal</c:v>
                </c:pt>
                <c:pt idx="2">
                  <c:v>Blues</c:v>
                </c:pt>
                <c:pt idx="3">
                  <c:v>Jazz</c:v>
                </c:pt>
                <c:pt idx="4">
                  <c:v>Latin</c:v>
                </c:pt>
                <c:pt idx="5">
                  <c:v>Alt &amp; Punk</c:v>
                </c:pt>
                <c:pt idx="6">
                  <c:v>Reggae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386.1</c:v>
                </c:pt>
                <c:pt idx="1">
                  <c:v>122.76</c:v>
                </c:pt>
                <c:pt idx="2">
                  <c:v>22.77</c:v>
                </c:pt>
                <c:pt idx="3">
                  <c:v>21.78</c:v>
                </c:pt>
                <c:pt idx="4">
                  <c:v>18.81</c:v>
                </c:pt>
                <c:pt idx="5">
                  <c:v>11.88</c:v>
                </c:pt>
                <c:pt idx="6">
                  <c:v>1.98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FC3C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3C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8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0D1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F5F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9F0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AC8F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4C75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2D5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USA</c:v>
                  </c:pt>
                  <c:pt idx="1">
                    <c:v>Canada</c:v>
                  </c:pt>
                  <c:pt idx="2">
                    <c:v>Brazil</c:v>
                  </c:pt>
                  <c:pt idx="3">
                    <c:v>France</c:v>
                  </c:pt>
                  <c:pt idx="4">
                    <c:v>Germany</c:v>
                  </c:pt>
                  <c:pt idx="5">
                    <c:v>Czech Rep.</c:v>
                  </c:pt>
                  <c:pt idx="6">
                    <c:v>UK</c:v>
                  </c:pt>
                  <c:pt idx="7">
                    <c:v>Portugal</c:v>
                  </c:pt>
                  <c:pt idx="8">
                    <c:v>India</c:v>
                  </c:pt>
                  <c:pt idx="9">
                    <c:v>Ireland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1040.49</c:v>
                </c:pt>
                <c:pt idx="1">
                  <c:v>535.59</c:v>
                </c:pt>
                <c:pt idx="2">
                  <c:v>427.68</c:v>
                </c:pt>
                <c:pt idx="3">
                  <c:v>389.07</c:v>
                </c:pt>
                <c:pt idx="4">
                  <c:v>334.62</c:v>
                </c:pt>
                <c:pt idx="5">
                  <c:v>273.24</c:v>
                </c:pt>
                <c:pt idx="6">
                  <c:v>245.52</c:v>
                </c:pt>
                <c:pt idx="7">
                  <c:v>185.13</c:v>
                </c:pt>
                <c:pt idx="8">
                  <c:v>183.15</c:v>
                </c:pt>
                <c:pt idx="9">
                  <c:v>114.84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Tracks in Store</c:v>
                </c:pt>
              </c:strCache>
            </c:strRef>
          </c:tx>
          <c:spPr>
            <a:solidFill>
              <a:srgbClr val="FC3C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MPEG Audio</c:v>
                  </c:pt>
                  <c:pt idx="1">
                    <c:v>Protected AAC</c:v>
                  </c:pt>
                  <c:pt idx="2">
                    <c:v>Prot. MPEG-4
Video</c:v>
                  </c:pt>
                  <c:pt idx="3">
                    <c:v>Purchased
AAC</c:v>
                  </c:pt>
                  <c:pt idx="4">
                    <c:v>AAC Audio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358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Sold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MPEG Audio</c:v>
                  </c:pt>
                  <c:pt idx="1">
                    <c:v>Protected AAC</c:v>
                  </c:pt>
                  <c:pt idx="2">
                    <c:v>Prot. MPEG-4
Video</c:v>
                  </c:pt>
                  <c:pt idx="3">
                    <c:v>Purchased
AAC</c:v>
                  </c:pt>
                  <c:pt idx="4">
                    <c:v>AAC Audio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583</c:v>
                </c:pt>
                <c:pt idx="1">
                  <c:v>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 Store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Rock</c:v>
                  </c:pt>
                  <c:pt idx="1">
                    <c:v>Latin</c:v>
                  </c:pt>
                  <c:pt idx="2">
                    <c:v>Metal</c:v>
                  </c:pt>
                  <c:pt idx="3">
                    <c:v>Alt &amp; Punk</c:v>
                  </c:pt>
                  <c:pt idx="4">
                    <c:v>Reggae</c:v>
                  </c:pt>
                  <c:pt idx="5">
                    <c:v>Pop</c:v>
                  </c:pt>
                  <c:pt idx="6">
                    <c:v>Jazz</c:v>
                  </c:pt>
                  <c:pt idx="7">
                    <c:v>Blues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</c:v>
                </c:pt>
                <c:pt idx="1">
                  <c:v>87</c:v>
                </c:pt>
                <c:pt idx="2">
                  <c:v>54</c:v>
                </c:pt>
                <c:pt idx="3">
                  <c:v>29</c:v>
                </c:pt>
                <c:pt idx="4">
                  <c:v>31</c:v>
                </c:pt>
                <c:pt idx="5">
                  <c:v>14</c:v>
                </c:pt>
                <c:pt idx="6">
                  <c:v>22</c:v>
                </c:pt>
                <c:pt idx="7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Sold</c:v>
                </c:pt>
              </c:strCache>
            </c:strRef>
          </c:tx>
          <c:spPr>
            <a:solidFill>
              <a:srgbClr val="FC3C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Rock</c:v>
                  </c:pt>
                  <c:pt idx="1">
                    <c:v>Latin</c:v>
                  </c:pt>
                  <c:pt idx="2">
                    <c:v>Metal</c:v>
                  </c:pt>
                  <c:pt idx="3">
                    <c:v>Alt &amp; Punk</c:v>
                  </c:pt>
                  <c:pt idx="4">
                    <c:v>Reggae</c:v>
                  </c:pt>
                  <c:pt idx="5">
                    <c:v>Pop</c:v>
                  </c:pt>
                  <c:pt idx="6">
                    <c:v>Jazz</c:v>
                  </c:pt>
                  <c:pt idx="7">
                    <c:v>Blues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390</c:v>
                </c:pt>
                <c:pt idx="1">
                  <c:v>19</c:v>
                </c:pt>
                <c:pt idx="2">
                  <c:v>124</c:v>
                </c:pt>
                <c:pt idx="3">
                  <c:v>12</c:v>
                </c:pt>
                <c:pt idx="4">
                  <c:v>2</c:v>
                </c:pt>
                <c:pt idx="5">
                  <c:v>0</c:v>
                </c:pt>
                <c:pt idx="6">
                  <c:v>22</c:v>
                </c:pt>
                <c:pt idx="7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rgbClr val="FC3C44"/>
            </a:solidFill>
            <a:ln w="25400" cap="flat">
              <a:solidFill>
                <a:srgbClr val="FC3C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C3C44"/>
              </a:solidFill>
              <a:ln w="9525" cap="flat">
                <a:solidFill>
                  <a:srgbClr val="FC3C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Jan'17</c:v>
                  </c:pt>
                  <c:pt idx="1">
                    <c:v>Apr</c:v>
                  </c:pt>
                  <c:pt idx="2">
                    <c:v>Jul</c:v>
                  </c:pt>
                  <c:pt idx="3">
                    <c:v>Oct</c:v>
                  </c:pt>
                  <c:pt idx="4">
                    <c:v>Jan'18</c:v>
                  </c:pt>
                  <c:pt idx="5">
                    <c:v>Apr</c:v>
                  </c:pt>
                  <c:pt idx="6">
                    <c:v>Jul</c:v>
                  </c:pt>
                  <c:pt idx="7">
                    <c:v>Oct</c:v>
                  </c:pt>
                  <c:pt idx="8">
                    <c:v>Jan'19</c:v>
                  </c:pt>
                  <c:pt idx="9">
                    <c:v>Apr</c:v>
                  </c:pt>
                  <c:pt idx="10">
                    <c:v>Jul</c:v>
                  </c:pt>
                  <c:pt idx="11">
                    <c:v>Oct</c:v>
                  </c:pt>
                  <c:pt idx="12">
                    <c:v>Jan'20</c:v>
                  </c:pt>
                  <c:pt idx="13">
                    <c:v>Apr</c:v>
                  </c:pt>
                  <c:pt idx="14">
                    <c:v>Jul</c:v>
                  </c:pt>
                  <c:pt idx="15">
                    <c:v>Oct'20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61.38</c:v>
                </c:pt>
                <c:pt idx="1">
                  <c:v>52.47</c:v>
                </c:pt>
                <c:pt idx="2">
                  <c:v>13.86</c:v>
                </c:pt>
                <c:pt idx="3">
                  <c:v>17.82</c:v>
                </c:pt>
                <c:pt idx="4">
                  <c:v>38.61</c:v>
                </c:pt>
                <c:pt idx="5">
                  <c:v>14.85</c:v>
                </c:pt>
                <c:pt idx="6">
                  <c:v>21.78</c:v>
                </c:pt>
                <c:pt idx="7">
                  <c:v>18.81</c:v>
                </c:pt>
                <c:pt idx="8">
                  <c:v>18.81</c:v>
                </c:pt>
                <c:pt idx="9">
                  <c:v>9.9</c:v>
                </c:pt>
                <c:pt idx="10">
                  <c:v>52.47</c:v>
                </c:pt>
                <c:pt idx="11">
                  <c:v>16.83</c:v>
                </c:pt>
                <c:pt idx="12">
                  <c:v>22.77</c:v>
                </c:pt>
                <c:pt idx="13">
                  <c:v>28.71</c:v>
                </c:pt>
                <c:pt idx="14">
                  <c:v>2.97</c:v>
                </c:pt>
                <c:pt idx="15">
                  <c:v>52.47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rgbClr val="0A84FF"/>
            </a:solidFill>
            <a:ln w="25400" cap="flat">
              <a:solidFill>
                <a:srgbClr val="0A8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84FF"/>
              </a:solidFill>
              <a:ln w="9525" cap="flat">
                <a:solidFill>
                  <a:srgbClr val="0A8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Jan'17</c:v>
                  </c:pt>
                  <c:pt idx="1">
                    <c:v>Apr</c:v>
                  </c:pt>
                  <c:pt idx="2">
                    <c:v>Jul</c:v>
                  </c:pt>
                  <c:pt idx="3">
                    <c:v>Oct</c:v>
                  </c:pt>
                  <c:pt idx="4">
                    <c:v>Jan'18</c:v>
                  </c:pt>
                  <c:pt idx="5">
                    <c:v>Apr</c:v>
                  </c:pt>
                  <c:pt idx="6">
                    <c:v>Jul</c:v>
                  </c:pt>
                  <c:pt idx="7">
                    <c:v>Oct</c:v>
                  </c:pt>
                  <c:pt idx="8">
                    <c:v>Jan'19</c:v>
                  </c:pt>
                  <c:pt idx="9">
                    <c:v>Apr</c:v>
                  </c:pt>
                  <c:pt idx="10">
                    <c:v>Jul</c:v>
                  </c:pt>
                  <c:pt idx="11">
                    <c:v>Oct</c:v>
                  </c:pt>
                  <c:pt idx="12">
                    <c:v>Jan'20</c:v>
                  </c:pt>
                  <c:pt idx="13">
                    <c:v>Apr</c:v>
                  </c:pt>
                  <c:pt idx="14">
                    <c:v>Jul</c:v>
                  </c:pt>
                  <c:pt idx="15">
                    <c:v>Oct'20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13.86</c:v>
                </c:pt>
                <c:pt idx="1">
                  <c:v>23.76</c:v>
                </c:pt>
                <c:pt idx="2">
                  <c:v>19.8</c:v>
                </c:pt>
                <c:pt idx="3">
                  <c:v>20.79</c:v>
                </c:pt>
                <c:pt idx="4">
                  <c:v>7.92</c:v>
                </c:pt>
                <c:pt idx="5">
                  <c:v>2.97</c:v>
                </c:pt>
                <c:pt idx="6">
                  <c:v>6.93</c:v>
                </c:pt>
                <c:pt idx="7">
                  <c:v>0</c:v>
                </c:pt>
                <c:pt idx="8">
                  <c:v>4.95</c:v>
                </c:pt>
                <c:pt idx="9">
                  <c:v>19.8</c:v>
                </c:pt>
                <c:pt idx="10">
                  <c:v>11.88</c:v>
                </c:pt>
                <c:pt idx="11">
                  <c:v>0</c:v>
                </c:pt>
                <c:pt idx="12">
                  <c:v>4.95</c:v>
                </c:pt>
                <c:pt idx="13">
                  <c:v>0</c:v>
                </c:pt>
                <c:pt idx="14">
                  <c:v>23.76</c:v>
                </c:pt>
                <c:pt idx="15">
                  <c:v>18.81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rgbClr val="30D158"/>
            </a:solidFill>
            <a:ln w="25400" cap="flat">
              <a:solidFill>
                <a:srgbClr val="30D15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0D158"/>
              </a:solidFill>
              <a:ln w="9525" cap="flat">
                <a:solidFill>
                  <a:srgbClr val="30D1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Jan'17</c:v>
                  </c:pt>
                  <c:pt idx="1">
                    <c:v>Apr</c:v>
                  </c:pt>
                  <c:pt idx="2">
                    <c:v>Jul</c:v>
                  </c:pt>
                  <c:pt idx="3">
                    <c:v>Oct</c:v>
                  </c:pt>
                  <c:pt idx="4">
                    <c:v>Jan'18</c:v>
                  </c:pt>
                  <c:pt idx="5">
                    <c:v>Apr</c:v>
                  </c:pt>
                  <c:pt idx="6">
                    <c:v>Jul</c:v>
                  </c:pt>
                  <c:pt idx="7">
                    <c:v>Oct</c:v>
                  </c:pt>
                  <c:pt idx="8">
                    <c:v>Jan'19</c:v>
                  </c:pt>
                  <c:pt idx="9">
                    <c:v>Apr</c:v>
                  </c:pt>
                  <c:pt idx="10">
                    <c:v>Jul</c:v>
                  </c:pt>
                  <c:pt idx="11">
                    <c:v>Oct</c:v>
                  </c:pt>
                  <c:pt idx="12">
                    <c:v>Jan'20</c:v>
                  </c:pt>
                  <c:pt idx="13">
                    <c:v>Apr</c:v>
                  </c:pt>
                  <c:pt idx="14">
                    <c:v>Jul</c:v>
                  </c:pt>
                  <c:pt idx="15">
                    <c:v>Oct'20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8.91</c:v>
                </c:pt>
                <c:pt idx="1">
                  <c:v>20.79</c:v>
                </c:pt>
                <c:pt idx="2">
                  <c:v>0</c:v>
                </c:pt>
                <c:pt idx="3">
                  <c:v>6.93</c:v>
                </c:pt>
                <c:pt idx="4">
                  <c:v>10.89</c:v>
                </c:pt>
                <c:pt idx="5">
                  <c:v>17.82</c:v>
                </c:pt>
                <c:pt idx="6">
                  <c:v>6.93</c:v>
                </c:pt>
                <c:pt idx="7">
                  <c:v>0</c:v>
                </c:pt>
                <c:pt idx="8">
                  <c:v>4.95</c:v>
                </c:pt>
                <c:pt idx="9">
                  <c:v>0.99</c:v>
                </c:pt>
                <c:pt idx="10">
                  <c:v>7.92</c:v>
                </c:pt>
                <c:pt idx="11">
                  <c:v>6.93</c:v>
                </c:pt>
                <c:pt idx="12">
                  <c:v>0</c:v>
                </c:pt>
                <c:pt idx="13">
                  <c:v>17.82</c:v>
                </c:pt>
                <c:pt idx="14">
                  <c:v>22.77</c:v>
                </c:pt>
                <c:pt idx="15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Purchased</c:v>
                </c:pt>
              </c:strCache>
            </c:strRef>
          </c:tx>
          <c:spPr>
            <a:solidFill>
              <a:srgbClr val="FC3C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3C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34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2B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22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C192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8101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4091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0000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C000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8000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Big Ones
(Aerosmith)</c:v>
                  </c:pt>
                  <c:pt idx="1">
                    <c:v>Facelift
(Alice in Chains)</c:v>
                  </c:pt>
                  <c:pt idx="2">
                    <c:v>For Those About..
(AC/DC)</c:v>
                  </c:pt>
                  <c:pt idx="3">
                    <c:v>Jagged Little..
(Alanis)</c:v>
                  </c:pt>
                  <c:pt idx="4">
                    <c:v>Let There Be..
(AC/DC)</c:v>
                  </c:pt>
                  <c:pt idx="5">
                    <c:v>Plays Metallica
(Apocalyptica)</c:v>
                  </c:pt>
                  <c:pt idx="6">
                    <c:v>Black Sabbath
(Black Sabbath)</c:v>
                  </c:pt>
                  <c:pt idx="7">
                    <c:v>Black Sab Vol.4</c:v>
                  </c:pt>
                  <c:pt idx="8">
                    <c:v>Audioslave</c:v>
                  </c:pt>
                  <c:pt idx="9">
                    <c:v>Best of Buddy Guy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</c:v>
                </c:pt>
                <c:pt idx="1">
                  <c:v>45</c:v>
                </c:pt>
                <c:pt idx="2">
                  <c:v>40</c:v>
                </c:pt>
                <c:pt idx="3">
                  <c:v>37</c:v>
                </c:pt>
                <c:pt idx="4">
                  <c:v>29</c:v>
                </c:pt>
                <c:pt idx="5">
                  <c:v>29</c:v>
                </c:pt>
                <c:pt idx="6">
                  <c:v>26</c:v>
                </c:pt>
                <c:pt idx="7">
                  <c:v>29</c:v>
                </c:pt>
                <c:pt idx="8">
                  <c:v>20</c:v>
                </c:pt>
                <c:pt idx="9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E"/>
        </a:solidFill>
        <a:ln>
          <a:noFill/>
        </a:ln>
        <a:effectLst/>
      </c:spPr>
    </c:plotArea>
    <c:plotVisOnly val="1"/>
    <c:dispBlanksAs val="span"/>
  </c:chart>
  <c:spPr>
    <a:solidFill>
      <a:srgbClr val="1C1C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457200"/>
            <a:ext cx="1463040" cy="1463040"/>
          </a:xfrm>
          <a:prstGeom prst="ellipse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5029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♪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Apple iTunes Music Store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Intelligence &amp; Analytics Report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429000"/>
            <a:ext cx="4572000" cy="36576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MySQL  |  4 Years of Data (2017–2020)  |  24 Countries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828800" cy="749808"/>
          </a:xfrm>
          <a:prstGeom prst="rect">
            <a:avLst>
              <a:gd name="adj" fmla="val 6098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187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$4,709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553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4160520"/>
            <a:ext cx="1828800" cy="749808"/>
          </a:xfrm>
          <a:prstGeom prst="rect">
            <a:avLst>
              <a:gd name="adj" fmla="val 6098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4187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34640" y="4553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4160520"/>
            <a:ext cx="1828800" cy="749808"/>
          </a:xfrm>
          <a:prstGeom prst="rect">
            <a:avLst>
              <a:gd name="adj" fmla="val 6098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4187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4553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4160520"/>
            <a:ext cx="1828800" cy="749808"/>
          </a:xfrm>
          <a:prstGeom prst="rect">
            <a:avLst>
              <a:gd name="adj" fmla="val 6098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4187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0" y="4553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Performance Indicators — iTunes Store 2017–2020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651760" cy="16002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64008" cy="1600200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243584"/>
            <a:ext cx="228600" cy="228600"/>
          </a:xfrm>
          <a:prstGeom prst="ellipse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544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repeat buyers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078992"/>
            <a:ext cx="2651760" cy="16002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78992"/>
            <a:ext cx="64008" cy="160020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43584"/>
            <a:ext cx="228600" cy="22860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544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Invoices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153 per year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5896" y="1078992"/>
            <a:ext cx="2651760" cy="16002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078992"/>
            <a:ext cx="64008" cy="160020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1243584"/>
            <a:ext cx="228600" cy="22860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5544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$4,709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0488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0488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2017 – 2020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2651760" cy="16002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07792"/>
            <a:ext cx="64008" cy="16002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3072384"/>
            <a:ext cx="228600" cy="22860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383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84632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Tracks in Store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41879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priced at $0.99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72968" y="2907792"/>
            <a:ext cx="2651760" cy="16002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907792"/>
            <a:ext cx="64008" cy="1600200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072384"/>
            <a:ext cx="228600" cy="228600"/>
          </a:xfrm>
          <a:prstGeom prst="ellipse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383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3375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Artists Tracked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41879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AC/DC leads revenue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25896" y="2907792"/>
            <a:ext cx="2651760" cy="16002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25896" y="2907792"/>
            <a:ext cx="64008" cy="160020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0488" y="3072384"/>
            <a:ext cx="228600" cy="22860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383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190488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Countries Served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0488" y="41879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reach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709160"/>
            <a:ext cx="8503920" cy="301752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709160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Revenue: $4,709.43  |  Avg Invoice: $7.67  |  Best Year: 2019 ($1,221.66)  |  Peak Month: Jan 2018 ($183.15)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Customers by Lifetime Value  |  59 Repeat Customers  |  Avg LTV: $79.82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87552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987552"/>
            <a:ext cx="2743200" cy="80467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987552"/>
            <a:ext cx="54864" cy="804672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04241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$79.82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426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LTV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72200" y="1938528"/>
            <a:ext cx="2743200" cy="80467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938528"/>
            <a:ext cx="54864" cy="80467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99339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 / 59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09360" y="2377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Customers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2889504"/>
            <a:ext cx="2743200" cy="80467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2889504"/>
            <a:ext cx="54864" cy="80467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944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Czech Rep $136.62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33284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 Country (LTV)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72200" y="3840480"/>
            <a:ext cx="2743200" cy="80467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840480"/>
            <a:ext cx="54864" cy="80467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38953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$144.54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42793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Customer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72200" y="4773168"/>
            <a:ext cx="2743200" cy="237744"/>
          </a:xfrm>
          <a:prstGeom prst="rect">
            <a:avLst/>
          </a:prstGeom>
          <a:solidFill>
            <a:srgbClr val="1A0A0B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7731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3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Insight: Czech Republic leads in revenue-per-customer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&amp; Revenue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2017–2020 Monthly Revenue Trends  |  614 Total Invoices  |  $4,709.43 Lifetime Revenue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5943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0040" y="3858768"/>
          <a:ext cx="59436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46520" y="960120"/>
            <a:ext cx="2468880" cy="877824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46520" y="960120"/>
            <a:ext cx="54864" cy="877824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83680" y="10058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$7.67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583680" y="1472184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Invoice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446520" y="1984248"/>
            <a:ext cx="2468880" cy="877824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1984248"/>
            <a:ext cx="54864" cy="877824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0" y="20299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 2018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$183.15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0" y="2496312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Month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446520" y="3008376"/>
            <a:ext cx="2468880" cy="877824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3008376"/>
            <a:ext cx="54864" cy="877824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0" y="305409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$1,221.66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83680" y="352044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Year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46520" y="4032504"/>
            <a:ext cx="2468880" cy="877824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6520" y="4032504"/>
            <a:ext cx="54864" cy="8778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83680" y="4078224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$456.39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83680" y="454456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(All-time)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Artist &amp; Genre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592 Tracks Sold  |  $586.08 Genre Revenue  |  Rock Dominates 21 of 24 Countries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38404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297680" y="9875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5 ARTISTS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97680" y="1353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AC/DC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49440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D1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$122.76  |  124 sold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97680" y="1627632"/>
            <a:ext cx="4572000" cy="16459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97680" y="1627632"/>
            <a:ext cx="4572000" cy="16459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Aerosmith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4944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D1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$79.20  |  80 sold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97680" y="2286000"/>
            <a:ext cx="4572000" cy="16459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2286000"/>
            <a:ext cx="2971800" cy="16459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Alanis Morissette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49440" y="2670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D1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$74.25  |  75 sold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0" y="2944368"/>
            <a:ext cx="4572000" cy="16459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2944368"/>
            <a:ext cx="2743200" cy="16459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33284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Black Sabbath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33284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D1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$67.32  |  68 sold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297680" y="3602736"/>
            <a:ext cx="4572000" cy="16459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97680" y="3602736"/>
            <a:ext cx="2514600" cy="16459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3986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Alice In Chains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49440" y="39867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D1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$58.41  |  59 sold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97680" y="4261104"/>
            <a:ext cx="4572000" cy="16459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97680" y="4261104"/>
            <a:ext cx="2194560" cy="16459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0" y="4663440"/>
            <a:ext cx="457200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976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WARNING: Rock And Roll, Pop &amp; Classical: 0 Sales — Dead Inventory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&amp; Geographic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Sales Reps (Calgary, CA)  |  24 Countries  |  $4,709.43 Total Revenue Managed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868680"/>
                <a:gridCol w="1143000"/>
                <a:gridCol w="960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Sales Rep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Invoices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Invoice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3C44"/>
                          </a:solidFill>
                        </a:rPr>
                        <a:t>Jane Peacock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0D158"/>
                          </a:solidFill>
                        </a:rPr>
                        <a:t>$1,731.51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0D158"/>
                          </a:solidFill>
                        </a:rPr>
                        <a:t>$8.17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84FF"/>
                          </a:solidFill>
                        </a:rPr>
                        <a:t>Margaret Park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84FF"/>
                          </a:solidFill>
                        </a:rPr>
                        <a:t>$1,584.00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A84FF"/>
                          </a:solidFill>
                        </a:rPr>
                        <a:t>$7.40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60A"/>
                          </a:solidFill>
                        </a:rPr>
                        <a:t>Steve Johnson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60A"/>
                          </a:solidFill>
                        </a:rPr>
                        <a:t>$1,393.92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D60A"/>
                          </a:solidFill>
                        </a:rPr>
                        <a:t>$7.41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60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MARKETS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2160" y="1298448"/>
            <a:ext cx="3017520" cy="566928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1298448"/>
            <a:ext cx="54864" cy="566928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98464" y="13350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98464" y="16002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customers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223760" y="14081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$1,040.49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1956816"/>
            <a:ext cx="3017520" cy="566928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956816"/>
            <a:ext cx="54864" cy="56692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98464" y="1993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Canada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98464" y="22585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customers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223760" y="20665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$535.59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52160" y="2615184"/>
            <a:ext cx="3017520" cy="566928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2615184"/>
            <a:ext cx="54864" cy="566928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2651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Brazil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98464" y="29169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customers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223760" y="27249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$427.68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852160" y="3273552"/>
            <a:ext cx="3017520" cy="566928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3273552"/>
            <a:ext cx="54864" cy="56692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98464" y="33101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98464" y="35753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customers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223760" y="33832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$389.07</a:t>
            </a:r>
            <a:endParaRPr lang="en-US" sz="14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20040" y="2514600"/>
          <a:ext cx="53035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3"/>
          <p:cNvSpPr/>
          <p:nvPr/>
        </p:nvSpPr>
        <p:spPr>
          <a:xfrm>
            <a:off x="5852160" y="4133088"/>
            <a:ext cx="3017520" cy="868680"/>
          </a:xfrm>
          <a:prstGeom prst="rect">
            <a:avLst/>
          </a:prstGeom>
          <a:solidFill>
            <a:srgbClr val="0A0F1A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43600" y="41788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OPPORTUNITY ZONES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943600" y="440740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</a:rPr>
              <a:t>• Argentina: $39.60 (1 customer)
</a:t>
            </a:r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</a:rPr>
              <a:t>• Denmark: $37.62 (1 customer)
</a:t>
            </a:r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</a:rPr>
              <a:t>• Italy: $50.49 (1 customer)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&amp; Content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362 Tracks in Store  |  $0.99 Uniform Pricing  |  MPEG Dominates 99.3% of Sales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87552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0040" y="3493008"/>
          <a:ext cx="5303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987552"/>
            <a:ext cx="3063240" cy="859536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806440" y="987552"/>
            <a:ext cx="54864" cy="859536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61888" y="103327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$0.99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61888" y="149961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 Track Price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806440" y="1993392"/>
            <a:ext cx="3063240" cy="859536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06440" y="1993392"/>
            <a:ext cx="54864" cy="859536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61888" y="203911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genres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 sales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61888" y="250545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Zero-Revenue Genres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806440" y="2999232"/>
            <a:ext cx="3063240" cy="859536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06440" y="2999232"/>
            <a:ext cx="54864" cy="859536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61888" y="304495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$12.87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 The Finger On You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61888" y="351129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Track Revenue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806440" y="4005072"/>
            <a:ext cx="3063240" cy="859536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4005072"/>
            <a:ext cx="54864" cy="85953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61888" y="405079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99.3%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all sales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61888" y="451713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MPEG Audio Share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806440" y="4754880"/>
            <a:ext cx="3063240" cy="256032"/>
          </a:xfrm>
          <a:prstGeom prst="rect">
            <a:avLst/>
          </a:prstGeom>
          <a:solidFill>
            <a:srgbClr val="1A0A0B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06440" y="47548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3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ALERT: 200+ albums with ZERO purchases ever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Trends by Country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USA, Canada, Brazil, France &amp; Germany — Monthly Revenue 2017–2020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8503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041648"/>
            <a:ext cx="2011680" cy="9144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4041648"/>
            <a:ext cx="2011680" cy="54864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$1,040.49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Total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1480" y="4663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22.1% of total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78024" y="4041648"/>
            <a:ext cx="2011680" cy="9144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78024" y="4041648"/>
            <a:ext cx="2011680" cy="54864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9464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$535.59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69464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Canada Total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569464" y="4663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11.4% of total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36008" y="4041648"/>
            <a:ext cx="2011680" cy="9144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36008" y="4041648"/>
            <a:ext cx="2011680" cy="54864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$427.68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27448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Total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27448" y="4663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9.1% of total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793992" y="4041648"/>
            <a:ext cx="2011680" cy="91440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93992" y="4041648"/>
            <a:ext cx="2011680" cy="5486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85432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$334.62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85432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Germany Total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885432" y="4663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7.1% of total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Catalog &amp; Sales Efficiency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Track-to-Sales Conversion  |  Top Albums  |  Dead Inventory Analysis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CATALOG EFFICIENCY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77840" y="1325880"/>
            <a:ext cx="3291840" cy="71323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325880"/>
            <a:ext cx="54864" cy="71323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24144" y="13716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3C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AC/DC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24144" y="17099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tracks → 124 sold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24144" y="18928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Efficient Artist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577840" y="2148840"/>
            <a:ext cx="3291840" cy="71323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148840"/>
            <a:ext cx="54864" cy="71323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24144" y="21945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Various Artists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24144" y="25328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tracks → 0 sold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24144" y="271576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Worst Efficiency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577840" y="2971800"/>
            <a:ext cx="3291840" cy="71323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971800"/>
            <a:ext cx="54864" cy="713232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24144" y="30175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Ones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24144" y="33558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$79.20 | 51 purchases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24144" y="353872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Album Revenue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577840" y="3794760"/>
            <a:ext cx="3291840" cy="713232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794760"/>
            <a:ext cx="54864" cy="71323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24144" y="38404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tracks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724144" y="4178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Rock &amp; Roll: 0 sales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24144" y="43616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 Genre Tracks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Actions for Each Team — Based on MySQL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874520"/>
          </a:xfrm>
          <a:prstGeom prst="rect">
            <a:avLst/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347472"/>
          </a:xfrm>
          <a:prstGeom prst="rect">
            <a:avLst/>
          </a:prstGeom>
          <a:solidFill>
            <a:srgbClr val="FC3C44"/>
          </a:solidFill>
          <a:ln w="12700">
            <a:solidFill>
              <a:srgbClr val="FC3C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96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" y="1362456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Re-engage 16 at-risk customers (last purchase &lt;= Apr 2020)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Czech Republic ($136.62 LTV) &amp; Ireland ($114.84 LTV)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 Rock genre globally — leads in 21 of 24 countries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Loyalty campaigns for customers with 9–11 purchases (highest frequency)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874520"/>
          </a:xfrm>
          <a:prstGeom prst="rect">
            <a:avLst/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996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82896" y="1362456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or bundle 14 zero-revenue genres (Pop, Rock &amp; Roll, Classical...)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200+ albums with zero lifetime purchases — retire dead inventory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premium pricing beyond $0.99 (currently max invoice $23.76)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MPEG catalog — drives 99.3% of all revenue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4160520" cy="347472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0083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" y="3374136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Hire more reps — 3 agents manage 59 customers each (avg 7.4/rep)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Steve Johnson (hired Oct 2017) already matches Park &amp; Peacock pace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untapped markets: Argentina, Denmark, Italy (&lt;$55 each)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Upsell full albums — Big Ones (Aerosmith) bought 51 times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60520" cy="1874520"/>
          </a:xfrm>
          <a:prstGeom prst="rect">
            <a:avLst/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4160520" cy="34747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30083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3374136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Investigate Dec 2017 revenue drop ($28.71) — lowest month in dataset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 2018 spike ($183.15) — identify cause and replicate seasonally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3 reps in Calgary — consider geo-distributed team for global coverage
</a:t>
            </a:r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invoices declined 2020 — diagnose churn signals early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FC3C44">
              <a:alpha val="12000"/>
            </a:srgbClr>
          </a:solidFill>
          <a:ln w="12700">
            <a:solidFill>
              <a:srgbClr val="FC3C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1188720"/>
            <a:ext cx="1828800" cy="1828800"/>
          </a:xfrm>
          <a:prstGeom prst="ellipse">
            <a:avLst/>
          </a:prstGeom>
          <a:solidFill>
            <a:srgbClr val="FC3C44">
              <a:alpha val="25000"/>
            </a:srgbClr>
          </a:solidFill>
          <a:ln w="12700">
            <a:solidFill>
              <a:srgbClr val="FC3C44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C3C44"/>
                </a:solidFill>
              </a:rPr>
              <a:t>♪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3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iTunes Music Store — BI Analytics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4663440"/>
            <a:ext cx="45720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Database: chinook.db  |  Tool: MySQL  |  Slides: PptxGenJS  |  Period: 2017–2020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iTunes Music Store Analytics</dc:title>
  <dc:subject>PptxGenJS Presentation</dc:subject>
  <dc:creator>PptxGenJS</dc:creator>
  <cp:lastModifiedBy>PptxGenJS</cp:lastModifiedBy>
  <cp:revision>1</cp:revision>
  <dcterms:created xsi:type="dcterms:W3CDTF">2026-03-06T15:51:04Z</dcterms:created>
  <dcterms:modified xsi:type="dcterms:W3CDTF">2026-03-06T15:51:04Z</dcterms:modified>
</cp:coreProperties>
</file>